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74320"/>
            <a:ext cx="11521440" cy="6309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8229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4A373"/>
                </a:solidFill>
                <a:latin typeface="PingFang SC"/>
              </a:rPr>
              <a:t>FOS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512064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3C3228"/>
                </a:solidFill>
                <a:latin typeface="PingFang SC"/>
              </a:rPr>
              <a:t>Future of Society
社会仿真平台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493776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8B7355"/>
                </a:solidFill>
                <a:latin typeface="PingFang SC"/>
              </a:rPr>
              <a:t>一个基于大语言模型的多智能体社会仿真系统
支持分支、干预、对比、日志观察与总结分析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280160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研究型平台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3154680"/>
            <a:ext cx="950976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实验树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154680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因果干预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3154680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结果分析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685800"/>
            <a:ext cx="5440680" cy="23317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349240" cy="2240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99048" y="758952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平台首页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246120"/>
            <a:ext cx="5440680" cy="26974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-simulation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91840"/>
            <a:ext cx="5349240" cy="26060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99048" y="3319272"/>
            <a:ext cx="1280160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仿真工作台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49240"/>
            <a:ext cx="47548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汇报结构：平台介绍 / 使用流程 / 核心功能 / 简单案例 / 复杂案例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平台整体介绍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它不是一个‘让智能体聊天’的演示器，而是一个在线社会实验工作台。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3C3228"/>
                </a:solidFill>
                <a:latin typeface="PingFang SC"/>
              </a:defRPr>
            </a:pPr>
            <a:r>
              <a:t>面向研究问题：合作、冲突、传播、规范、政策执行、组织层级等。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3C3228"/>
                </a:solidFill>
                <a:latin typeface="PingFang SC"/>
              </a:defRPr>
            </a:pPr>
            <a:r>
              <a:t>核心对象不是单个回答，而是多角色、多规则、多信息源持续作用后的社会过程。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3C3228"/>
                </a:solidFill>
                <a:latin typeface="PingFang SC"/>
              </a:defRPr>
            </a:pPr>
            <a:r>
              <a:t>用户既可以创建实验，也可以在运行中做分支、干预、对比和总结。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900">
                <a:solidFill>
                  <a:srgbClr val="3C3228"/>
                </a:solidFill>
                <a:latin typeface="PingFang SC"/>
              </a:defRPr>
            </a:pPr>
            <a:r>
              <a:t>平台同时保留结构化实验设计与开放式社会互动两种能力。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63040"/>
            <a:ext cx="201168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2" y="16276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8B7355"/>
                </a:solidFill>
                <a:latin typeface="PingFang SC"/>
              </a:rPr>
              <a:t>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2" y="1847088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B98859"/>
                </a:solidFill>
                <a:latin typeface="PingFang SC"/>
              </a:rPr>
              <a:t>研究型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2" y="2249424"/>
            <a:ext cx="16916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8B7355"/>
                </a:solidFill>
                <a:latin typeface="PingFang SC"/>
              </a:rPr>
              <a:t>强调可控、可观察、可比较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463040"/>
            <a:ext cx="201168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162763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8B7355"/>
                </a:solidFill>
                <a:latin typeface="PingFang SC"/>
              </a:rPr>
              <a:t>核心机制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1847088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B98859"/>
                </a:solidFill>
                <a:latin typeface="PingFang SC"/>
              </a:rPr>
              <a:t>实验树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2249424"/>
            <a:ext cx="16916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8B7355"/>
                </a:solidFill>
                <a:latin typeface="PingFang SC"/>
              </a:rPr>
              <a:t>支持平行条件与历史分支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154680"/>
            <a:ext cx="201168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331927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8B7355"/>
                </a:solidFill>
                <a:latin typeface="PingFang SC"/>
              </a:rPr>
              <a:t>运行方式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538728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B98859"/>
                </a:solidFill>
                <a:latin typeface="PingFang SC"/>
              </a:rPr>
              <a:t>推进节点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3941064"/>
            <a:ext cx="16916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8B7355"/>
                </a:solidFill>
                <a:latin typeface="PingFang SC"/>
              </a:rPr>
              <a:t>推进的是社会过程而不是页面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154680"/>
            <a:ext cx="201168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3319272"/>
            <a:ext cx="1691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8B7355"/>
                </a:solidFill>
                <a:latin typeface="PingFang SC"/>
              </a:rP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3538728"/>
            <a:ext cx="1691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B98859"/>
                </a:solidFill>
                <a:latin typeface="PingFang SC"/>
              </a:rPr>
              <a:t>日志 + 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3941064"/>
            <a:ext cx="16916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8B7355"/>
                </a:solidFill>
                <a:latin typeface="PingFang SC"/>
              </a:rPr>
              <a:t>保留全流程证据与总结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800600"/>
            <a:ext cx="4389120" cy="1371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846320"/>
            <a:ext cx="4297680" cy="128016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693408" y="4873752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研究桌面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为什么要做这样一个平台？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因为很多现实问题都不是单一主体瞬时决策的结果，而是群体互动的累积结果。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政策传播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24028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为什么政策在传播中会逐渐走样？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0876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2" y="167335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合作形成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2" y="2011680"/>
            <a:ext cx="224028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为什么合作在某些条件下会建立，在另一些条件下会崩溃？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0215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信息扩散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840480"/>
            <a:ext cx="224028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为什么信息会在某种网络里快速传播，在另一种结构里被扭曲或阻断？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33756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2" y="350215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因果验证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3840480"/>
            <a:ext cx="224028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仅看最终结果很难解释过程，仅靠直觉也很难验证因果关系。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417320"/>
            <a:ext cx="4572000" cy="4297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9-network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480560" cy="42062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830568" y="1490472"/>
            <a:ext cx="1609344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网络结构与扩散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8978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同样的角色设定，在不同拓扑、规则与干预条件下，会导向不同结果。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FOS 的系统结构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从网页控制台到后端仿真引擎，再到场景、角色与分析能力，形成完整闭环。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8191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前端工作界面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834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注册登录、参数配置、运行控制、日志查看、结果分析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375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8191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后端仿真引擎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920240"/>
            <a:ext cx="2834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规则执行、顺序调度、事件记录、状态更新、实验树管理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375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58191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场景模板系统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920240"/>
            <a:ext cx="2834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博弈论、社会学、讨论类等预设场景与参数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3375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73075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智能体系统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069080"/>
            <a:ext cx="2834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模板角色、AI 批量生成、导入角色数据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566160"/>
            <a:ext cx="33375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373075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实验树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069080"/>
            <a:ext cx="2834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从同一历史节点出发进行分支、对比与回溯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566160"/>
            <a:ext cx="33375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73075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分析与导出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4069080"/>
            <a:ext cx="283464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AI 报告、日志摘要、模板保存与结果导出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97880"/>
            <a:ext cx="9784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B98859"/>
                </a:solidFill>
                <a:latin typeface="PingFang SC"/>
              </a:rPr>
              <a:t>理解方式：用户操作的是实验控制台，真正推进社会过程的是后端仿真引擎。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这套装置最鲜明的五个特点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" y="1490472"/>
            <a:ext cx="475488" cy="347472"/>
          </a:xfrm>
          <a:prstGeom prst="roundRect">
            <a:avLst/>
          </a:prstGeom>
          <a:solidFill>
            <a:srgbClr val="D4A373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435608"/>
            <a:ext cx="1280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可控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35608"/>
            <a:ext cx="795527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8B7355"/>
                </a:solidFill>
                <a:latin typeface="PingFang SC"/>
              </a:rPr>
              <a:t>用户不是旁观者，而是实验设计者。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04288"/>
            <a:ext cx="1051560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2468880"/>
            <a:ext cx="475488" cy="347472"/>
          </a:xfrm>
          <a:prstGeom prst="roundRect">
            <a:avLst/>
          </a:prstGeom>
          <a:solidFill>
            <a:srgbClr val="D4A373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414016"/>
            <a:ext cx="1280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可观察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14016"/>
            <a:ext cx="795527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8B7355"/>
                </a:solidFill>
                <a:latin typeface="PingFang SC"/>
              </a:rPr>
              <a:t>关键行为、动作、事件和变化会被持续记录。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82696"/>
            <a:ext cx="1051560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3447288"/>
            <a:ext cx="475488" cy="347472"/>
          </a:xfrm>
          <a:prstGeom prst="roundRect">
            <a:avLst/>
          </a:prstGeom>
          <a:solidFill>
            <a:srgbClr val="D4A373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392424"/>
            <a:ext cx="1280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可比较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92424"/>
            <a:ext cx="795527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8B7355"/>
                </a:solidFill>
                <a:latin typeface="PingFang SC"/>
              </a:rPr>
              <a:t>可以从同一状态制造多个平行条件进行对照。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1104"/>
            <a:ext cx="1051560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" y="4425696"/>
            <a:ext cx="475488" cy="347472"/>
          </a:xfrm>
          <a:prstGeom prst="roundRect">
            <a:avLst/>
          </a:prstGeom>
          <a:solidFill>
            <a:srgbClr val="D4A373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4370832"/>
            <a:ext cx="1280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可扩展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370832"/>
            <a:ext cx="795527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8B7355"/>
                </a:solidFill>
                <a:latin typeface="PingFang SC"/>
              </a:rPr>
              <a:t>支持知识注入、网络拓扑、环境事件等复杂机制。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39512"/>
            <a:ext cx="10515600" cy="7498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128" y="5404104"/>
            <a:ext cx="475488" cy="347472"/>
          </a:xfrm>
          <a:prstGeom prst="roundRect">
            <a:avLst/>
          </a:prstGeom>
          <a:solidFill>
            <a:srgbClr val="D4A373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5349240"/>
            <a:ext cx="1280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面向真实问题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349240"/>
            <a:ext cx="795527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8B7355"/>
                </a:solidFill>
                <a:latin typeface="PingFang SC"/>
              </a:rPr>
              <a:t>服务于合作、传播、规范、政策执行等研究。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FOS 与“斯坦福小镇 / Generative Agents”有什么关系？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共同点是都在模拟社会过程，不同点是 FOS 更强调实验性、可控性和可分析性。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480560" cy="34747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34747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C3228"/>
                </a:solidFill>
                <a:latin typeface="PingFang SC"/>
              </a:rPr>
              <a:t>Generative Agents / Stanford 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8B7355"/>
                </a:solidFill>
                <a:latin typeface="PingFang SC"/>
              </a:defRPr>
            </a:pPr>
            <a:r>
              <a:t>强调开放式日常生活模拟与群体涌现。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8B7355"/>
                </a:solidFill>
                <a:latin typeface="PingFang SC"/>
              </a:defRPr>
            </a:pPr>
            <a:r>
              <a:t>通过记忆、计划与反思机制让角色更像“持续生活”。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8B7355"/>
                </a:solidFill>
                <a:latin typeface="PingFang SC"/>
              </a:defRPr>
            </a:pPr>
            <a:r>
              <a:t>更偏向展示复杂社会互动本身的生成效果。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508760"/>
            <a:ext cx="4480560" cy="34747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83080"/>
            <a:ext cx="34747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3C3228"/>
                </a:solidFill>
                <a:latin typeface="PingFang SC"/>
              </a:rPr>
              <a:t>FOS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4028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8B7355"/>
                </a:solidFill>
                <a:latin typeface="PingFang SC"/>
              </a:defRPr>
            </a:pPr>
            <a:r>
              <a:t>强调实验设计、条件控制、分支对比与因果分析。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8B7355"/>
                </a:solidFill>
                <a:latin typeface="PingFang SC"/>
              </a:defRPr>
            </a:pPr>
            <a:r>
              <a:t>支持用户在运行中插入干预，并保留不同路径结果。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8B7355"/>
                </a:solidFill>
                <a:latin typeface="PingFang SC"/>
              </a:defRPr>
            </a:pPr>
            <a:r>
              <a:t>更偏向研究型平台，而不是仅展示社会涌现。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0680" y="3154680"/>
            <a:ext cx="1097280" cy="0"/>
          </a:xfrm>
          <a:prstGeom prst="line">
            <a:avLst/>
          </a:prstGeom>
          <a:ln w="31750">
            <a:solidFill>
              <a:srgbClr val="D4A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37760" y="2788920"/>
            <a:ext cx="1463040" cy="68580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926080"/>
            <a:ext cx="12801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从演示型涌现 → 研究型实验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8B7355"/>
                </a:solidFill>
                <a:latin typeface="PingFang SC"/>
              </a:rPr>
              <a:t>这一页不嵌外部网络图片，避免版权风险；重点放在对平台定位差异的解释。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新用户如何从零开始跑起一个实验？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从注册、模型配置、新建模拟，到进入工作台推进节点，整个路径可以拆成六步。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325880" cy="347472"/>
          </a:xfrm>
          <a:prstGeom prst="roundRect">
            <a:avLst/>
          </a:prstGeom>
          <a:solidFill>
            <a:srgbClr val="D4A373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/>
              </a:rPr>
              <a:t>1. 注册登录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2185416"/>
            <a:ext cx="365760" cy="0"/>
          </a:xfrm>
          <a:prstGeom prst="line">
            <a:avLst/>
          </a:prstGeom>
          <a:ln w="25400">
            <a:solidFill>
              <a:srgbClr val="D9C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40" y="2011680"/>
            <a:ext cx="1325880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C3228"/>
                </a:solidFill>
                <a:latin typeface="PingFang SC"/>
              </a:rPr>
              <a:t>2. 配置 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185416"/>
            <a:ext cx="365760" cy="0"/>
          </a:xfrm>
          <a:prstGeom prst="line">
            <a:avLst/>
          </a:prstGeom>
          <a:ln w="25400">
            <a:solidFill>
              <a:srgbClr val="D9C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2011680"/>
            <a:ext cx="1325880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C3228"/>
                </a:solidFill>
                <a:latin typeface="PingFang SC"/>
              </a:rPr>
              <a:t>3. 创建模拟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" y="2185416"/>
            <a:ext cx="365760" cy="0"/>
          </a:xfrm>
          <a:prstGeom prst="line">
            <a:avLst/>
          </a:prstGeom>
          <a:ln w="25400">
            <a:solidFill>
              <a:srgbClr val="D9C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2011680"/>
            <a:ext cx="1325880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C3228"/>
                </a:solidFill>
                <a:latin typeface="PingFang SC"/>
              </a:rPr>
              <a:t>4. 配置角色与网络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0" y="2185416"/>
            <a:ext cx="365760" cy="0"/>
          </a:xfrm>
          <a:prstGeom prst="line">
            <a:avLst/>
          </a:prstGeom>
          <a:ln w="25400">
            <a:solidFill>
              <a:srgbClr val="D9C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280" y="2011680"/>
            <a:ext cx="1325880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C3228"/>
                </a:solidFill>
                <a:latin typeface="PingFang SC"/>
              </a:rPr>
              <a:t>5. 推进节点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2185416"/>
            <a:ext cx="365760" cy="0"/>
          </a:xfrm>
          <a:prstGeom prst="line">
            <a:avLst/>
          </a:prstGeom>
          <a:ln w="25400">
            <a:solidFill>
              <a:srgbClr val="D9C7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2011680"/>
            <a:ext cx="1325880" cy="3474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C3228"/>
                </a:solidFill>
                <a:latin typeface="PingFang SC"/>
              </a:rPr>
              <a:t>6. 观察 / 保存 / 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926080"/>
            <a:ext cx="4663440" cy="2560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3-new-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71800"/>
            <a:ext cx="4572000" cy="2468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15568" y="2999232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创建向导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718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先完成模型配置，再开始创建模拟。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建议首次使用时优先选择预设场景，而不是从零定义机制。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创建完成后进入工作台，通过“推进节点”让社会过程继续演化。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日志、分支和分析报告共同构成实验证据链。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第一步注册登录，第二步先配置模型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对新用户来说，最重要的不是立刻新建模拟，而是先让底层模型能力配置稳定。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754880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4023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B98859"/>
                </a:solidFill>
                <a:latin typeface="PingFang SC"/>
              </a:rPr>
              <a:t>操作顺序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069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注册账号并登录平台。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进入设置页面，新增 LLM 提供商。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填写名称、类型、模型名称、Base URL / API Key。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保存并测试连接，通过后再开始创建实验。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如需要外部检索能力，再额外配置搜索提供商。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0292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4937760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99048" y="1536192"/>
            <a:ext cx="1609344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登录后的主界面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第三步：选择场景并创建模拟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预设场景已经整理好了规则、动作空间和基础逻辑，第一次使用建议从这里入手。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博弈论类：如囚徒困境、鹿猎博弈等经典模型。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社会学类：如政策意义侵蚀、回音室、社会规范扰动、资源稀缺。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讨论类：适合自由交流与非严格结构化实验。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预设通常包括背景说明、参与角色、动作、参数与初始环境。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83480"/>
            <a:ext cx="4846320" cy="73152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84648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B98859"/>
                </a:solidFill>
                <a:latin typeface="PingFang SC"/>
              </a:rPr>
              <a:t>理解方式：你面对的不是一张空白纸，而是一个已经搭好的实验框架。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25880"/>
            <a:ext cx="484632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new-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71600"/>
            <a:ext cx="4754880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44768" y="1399032"/>
            <a:ext cx="1444752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新建实验向导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智能体配置：三种进入方式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平台支持手动创建、AI 批量生成和导入角色三种路径。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2240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手动输入模板角色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48840"/>
            <a:ext cx="2240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自己填写名字、身份、简介、描述与属性。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160020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783080"/>
            <a:ext cx="2240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AI 批量生成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148840"/>
            <a:ext cx="2240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根据人数、角色分布、属性分布快速生成差异化角色。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600200"/>
            <a:ext cx="2606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1783080"/>
            <a:ext cx="2240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3C3228"/>
                </a:solidFill>
                <a:latin typeface="PingFang SC"/>
              </a:rPr>
              <a:t>导入智能体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148840"/>
            <a:ext cx="2240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8B7355"/>
                </a:solidFill>
                <a:latin typeface="PingFang SC"/>
              </a:rPr>
              <a:t>将已有角色表或结构化数据快速带入平台。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83280"/>
            <a:ext cx="5486400" cy="2560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-agent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5394960" cy="2468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78408" y="3456432"/>
            <a:ext cx="193852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AI 批量生成角色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520440"/>
            <a:ext cx="4206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可设置总人数、群体比例、合作倾向、认知水平、传播意愿、风险偏好等变量。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生成后还能预览和微调，避免角色重复或设定失真。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建议在确认创建前检查人数、角色类型和属性是否合理。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拓扑网络：不是简单连线，而是在定义互动路径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同一组智能体在不同网络结构下，可能会产生完全不同的传播与决策结果。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623560" cy="4754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network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532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86968" y="1444752"/>
            <a:ext cx="1444752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关系网络编辑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0876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平台支持环形、星型、小世界等常见网络结构，也可以手动编辑。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网络位置会影响角色的影响力、接触范围和信息流速。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信息在中心化网络中往往扩散更快，在分散网络中更局部。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所以这里不是配角步骤，而是在定义整个社会系统的互动路径。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进入仿真工作台：左树、中区、右侧信息流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工作台把分支结构、当前节点、日志与角色状态整合到同一个观察界面。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5074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simulation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67512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8" y="1399032"/>
            <a:ext cx="1280160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仿真工作台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520">
                <a:solidFill>
                  <a:srgbClr val="3C3228"/>
                </a:solidFill>
                <a:latin typeface="PingFang SC"/>
              </a:defRPr>
            </a:pPr>
            <a:r>
              <a:t>左侧：实验树或节点区域，显示当前模拟结构。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20">
                <a:solidFill>
                  <a:srgbClr val="3C3228"/>
                </a:solidFill>
                <a:latin typeface="PingFang SC"/>
              </a:defRPr>
            </a:pPr>
            <a:r>
              <a:t>中间：当前场景主舞台，包括节点信息、推进按钮、对比入口。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20">
                <a:solidFill>
                  <a:srgbClr val="3C3228"/>
                </a:solidFill>
                <a:latin typeface="PingFang SC"/>
              </a:defRPr>
            </a:pPr>
            <a:r>
              <a:t>右侧：日志、对话、状态与记忆信息，方便观察运行过程。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20">
                <a:solidFill>
                  <a:srgbClr val="3C3228"/>
                </a:solidFill>
                <a:latin typeface="PingFang SC"/>
              </a:defRPr>
            </a:pPr>
            <a:r>
              <a:t>顶部：推进节点、创建分支、导出、分析报告、知识库、网络拓扑等入口。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最关键的操作：推进节点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推进节点不是刷新页面，而是在推进一个社会过程。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20640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26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点击后，平台会在当前节点基础上继续运行一段仿真。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智能体会依据自己的设定和场景规则采取行动。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可能出现的动作包括：合作、背叛、传播、解释、服从、阻断、发言、汇报等。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系统会把这些动作转成日志与状态变化，供用户回看。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00">
                <a:solidFill>
                  <a:srgbClr val="3C3228"/>
                </a:solidFill>
                <a:latin typeface="PingFang SC"/>
              </a:defRPr>
            </a:pPr>
            <a:r>
              <a:t>所以每推进一次，本质上都是在让这个小型社会继续往前走。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4937760" cy="2057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host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4846320" cy="1965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27648" y="1490472"/>
            <a:ext cx="1609344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宿主控制与事件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03320"/>
            <a:ext cx="4937760" cy="2057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-experiment-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49040"/>
            <a:ext cx="4846320" cy="19659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27648" y="3776472"/>
            <a:ext cx="1609344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对照设计与干预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STEP 5-6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观察日志、进行干预、保存并继续扩展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真正的分析不只看最终结论，更要看过程证据、关键转折点和不同分支的差异。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日志会告诉你：谁先行动、说了什么、其他角色如何回应、环境是否变化。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可以筛选系统日志、环境日志、智能体行为日志、宿主干预日志等。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实验跑起来之后，可以继续推进，也可以停下来保存。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保存后会进入已保存列表，后续可以继续运行，也可以复用为模板。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029200" cy="2194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493776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6208" y="1444752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统计分析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94760"/>
            <a:ext cx="5029200" cy="2194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export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40480"/>
            <a:ext cx="49377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3867912"/>
            <a:ext cx="1280160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导出与报告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平台的核心功能可以概括成四条主线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4892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810512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智能体生成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76272"/>
            <a:ext cx="4297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8B7355"/>
                </a:solidFill>
                <a:latin typeface="PingFang SC"/>
              </a:rPr>
              <a:t>支持模板、AI 批量生成与导入三种方式。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4892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810512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仿真推进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176272"/>
            <a:ext cx="4297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8B7355"/>
                </a:solidFill>
                <a:latin typeface="PingFang SC"/>
              </a:rPr>
              <a:t>通过推进节点不断向前演化群体过程。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20439"/>
            <a:ext cx="4892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685031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因果干预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050791"/>
            <a:ext cx="4297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8B7355"/>
                </a:solidFill>
                <a:latin typeface="PingFang SC"/>
              </a:rPr>
              <a:t>从历史节点分支，对条件进行控制和对比。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520439"/>
            <a:ext cx="489204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685031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98859"/>
                </a:solidFill>
                <a:latin typeface="PingFang SC"/>
              </a:rPr>
              <a:t>结果总结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050791"/>
            <a:ext cx="4297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8B7355"/>
                </a:solidFill>
                <a:latin typeface="PingFang SC"/>
              </a:rPr>
              <a:t>日志、统计、AI 报告与导出共同构成总结层。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B98859"/>
                </a:solidFill>
                <a:latin typeface="PingFang SC"/>
              </a:rPr>
              <a:t>其中最能体现平台差异化价值的，是实验树、分支对比和干预设计。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CASE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简单案例：囚徒困境如何快速完成一个最小实验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这个案例适合用来说明平台的最小闭环：场景选择、角色生成、推进节点、观察合作与背叛。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10332720" cy="39319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331720"/>
            <a:ext cx="2057400" cy="132588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2606040"/>
            <a:ext cx="17830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3C3228"/>
                </a:solidFill>
                <a:latin typeface="PingFang SC"/>
              </a:rPr>
              <a:t>选择囚徒困境场景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2971800"/>
            <a:ext cx="283464" cy="0"/>
          </a:xfrm>
          <a:prstGeom prst="line">
            <a:avLst/>
          </a:prstGeom>
          <a:ln w="31750">
            <a:solidFill>
              <a:srgbClr val="D4A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84448" y="2331720"/>
            <a:ext cx="2057400" cy="132588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4" y="2606040"/>
            <a:ext cx="17830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3C3228"/>
                </a:solidFill>
                <a:latin typeface="PingFang SC"/>
              </a:rPr>
              <a:t>生成两名或多名角色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41848" y="2971800"/>
            <a:ext cx="283464" cy="0"/>
          </a:xfrm>
          <a:prstGeom prst="line">
            <a:avLst/>
          </a:prstGeom>
          <a:ln w="31750">
            <a:solidFill>
              <a:srgbClr val="D4A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71616" y="2331720"/>
            <a:ext cx="2057400" cy="132588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2606040"/>
            <a:ext cx="17830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3C3228"/>
                </a:solidFill>
                <a:latin typeface="PingFang SC"/>
              </a:rPr>
              <a:t>设置收益矩阵与初始条件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29016" y="2971800"/>
            <a:ext cx="283464" cy="0"/>
          </a:xfrm>
          <a:prstGeom prst="line">
            <a:avLst/>
          </a:prstGeom>
          <a:ln w="31750">
            <a:solidFill>
              <a:srgbClr val="D4A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58784" y="2331720"/>
            <a:ext cx="2057400" cy="1325880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606040"/>
            <a:ext cx="17830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3C3228"/>
                </a:solidFill>
                <a:latin typeface="PingFang SC"/>
              </a:rPr>
              <a:t>推进节点，观察合作/背叛演化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93268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8B7355"/>
                </a:solidFill>
                <a:latin typeface="PingFang SC"/>
              </a:rPr>
              <a:t>这个案例的价值不在于复杂，而在于它能快速展示：不同角色设定、不同收益结构和不同信息条件，会怎样改变合作结果。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645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D4A373"/>
                </a:solidFill>
                <a:latin typeface="PingFang SC"/>
              </a:rPr>
              <a:t>CASE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3C3228"/>
                </a:solidFill>
                <a:latin typeface="PingFang SC"/>
              </a:rPr>
              <a:t>复杂案例：政策意义侵蚀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60350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B7355"/>
                </a:solidFill>
                <a:latin typeface="PingFang SC"/>
              </a:rPr>
              <a:t>这个案例更接近真实世界，适合展示传播链条、层级结构、解释偏差与政策走样。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303520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simulation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21208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86968" y="1490472"/>
            <a:ext cx="1609344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复杂案例工作台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550">
                <a:solidFill>
                  <a:srgbClr val="3C3228"/>
                </a:solidFill>
                <a:latin typeface="PingFang SC"/>
              </a:defRPr>
            </a:pPr>
            <a:r>
              <a:t>同一条政策信息在不同层级和角色之间传递时，可能出现再解释、弱化、偏移与选择性执行。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solidFill>
                  <a:srgbClr val="3C3228"/>
                </a:solidFill>
                <a:latin typeface="PingFang SC"/>
              </a:defRPr>
            </a:pPr>
            <a:r>
              <a:t>通过分支机制，可以比较不同沟通结构、不同约束条件、不同干预强度下的最终差异。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solidFill>
                  <a:srgbClr val="3C3228"/>
                </a:solidFill>
                <a:latin typeface="PingFang SC"/>
              </a:defRPr>
            </a:pPr>
            <a:r>
              <a:t>这类问题只看最终结果往往不够，必须结合中间日志和关键节点变化来理解。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11292840" cy="6035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60120"/>
            <a:ext cx="4114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4A373"/>
                </a:solidFill>
                <a:latin typeface="PingFang SC"/>
              </a:rPr>
              <a:t>FOS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3C3228"/>
                </a:solidFill>
                <a:latin typeface="PingFang SC"/>
              </a:rPr>
              <a:t>总结：FOS 想解决的，不是‘AI 会不会说话’，而是
我们能不能把复杂社会过程做成可控、可观察、可比较的实验。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它既能支撑最小实验，也能支撑贴近现实的复杂问题模拟。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它把场景、角色、规则、分支、干预、日志和报告组织成了一个完整工作流。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600">
                <a:solidFill>
                  <a:srgbClr val="3C3228"/>
                </a:solidFill>
                <a:latin typeface="PingFang SC"/>
              </a:defRPr>
            </a:pPr>
            <a:r>
              <a:t>它的目标不是替代研究者，而是让研究者更快看到机制、证据和可比较结果。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188720"/>
            <a:ext cx="361188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799" y="1234440"/>
            <a:ext cx="352044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07807" y="1261872"/>
            <a:ext cx="914400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首页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337560"/>
            <a:ext cx="361188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export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99" y="3383280"/>
            <a:ext cx="3520440" cy="1737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07807" y="3410712"/>
            <a:ext cx="1115568" cy="347472"/>
          </a:xfrm>
          <a:prstGeom prst="roundRect">
            <a:avLst/>
          </a:prstGeom>
          <a:solidFill>
            <a:srgbClr val="F8F4EC"/>
          </a:solidFill>
          <a:ln w="12700">
            <a:solidFill>
              <a:srgbClr val="E5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98859"/>
                </a:solidFill>
                <a:latin typeface="PingFang SC"/>
              </a:rPr>
              <a:t>输出结果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32120"/>
            <a:ext cx="4114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B98859"/>
                </a:solidFill>
                <a:latin typeface="PingFang SC"/>
              </a:rPr>
              <a:t>谢谢大家。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